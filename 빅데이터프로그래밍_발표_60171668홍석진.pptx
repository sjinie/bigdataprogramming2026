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NanumBarunGothic" panose="020B0603020101020101" pitchFamily="34" charset="-127"/>
      <p:regular r:id="rId11"/>
      <p:bold r:id="rId12"/>
    </p:embeddedFont>
    <p:embeddedFont>
      <p:font typeface="Urbanist" panose="020B0A04040200000203" pitchFamily="34" charset="0"/>
      <p:regular r:id="rId13"/>
      <p:bold r:id="rId14"/>
      <p:italic r:id="rId15"/>
      <p:boldItalic r:id="rId16"/>
    </p:embeddedFont>
    <p:embeddedFont>
      <p:font typeface="Urbanist Medium" panose="020B0A04040200000203" pitchFamily="3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3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a5c3eb16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g3ea5c3eb16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a5c3eb163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g3ea5c3eb163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a5c3eb163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g3ea5c3eb163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a5c3eb163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g3ea5c3eb163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a5c3eb163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3ea5c3eb163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a5c3eb163_0_3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g3ea5c3eb163_0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a5c3eb163_0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g3ea5c3eb163_0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data.go.kr/data/15128560/openapi.do" TargetMode="External"/><Relationship Id="rId4" Type="http://schemas.openxmlformats.org/officeDocument/2006/relationships/hyperlink" Target="https://www.data.go.kr/data/15101578/openapi.d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1025" y="847725"/>
            <a:ext cx="110301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 err="1">
                <a:solidFill>
                  <a:srgbClr val="38BDF8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빅데이터프로그래밍</a:t>
            </a:r>
            <a:endParaRPr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305276" y="1541115"/>
            <a:ext cx="1158150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u="none" strike="noStrike" cap="none" dirty="0" err="1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지방</a:t>
            </a:r>
            <a:r>
              <a:rPr lang="en-US" sz="6000" b="1" u="none" strike="noStrike" cap="none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6000" b="1" u="none" strike="noStrike" cap="none" dirty="0" err="1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관광지</a:t>
            </a:r>
            <a:r>
              <a:rPr lang="en-US" sz="6000" b="1" u="none" strike="noStrike" cap="none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6000" b="1" u="none" strike="noStrike" cap="none" dirty="0" err="1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분석</a:t>
            </a:r>
            <a:r>
              <a:rPr lang="en-US" sz="6000" b="1" u="none" strike="noStrike" cap="none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6000" b="1" u="none" strike="noStrike" cap="none" dirty="0" err="1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및</a:t>
            </a:r>
            <a:br>
              <a:rPr lang="en-US" sz="6000" b="1" u="none" strike="noStrike" cap="none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Calibri"/>
                <a:sym typeface="Calibri"/>
              </a:rPr>
            </a:br>
            <a:r>
              <a:rPr lang="en-US" sz="6000" b="1" u="none" strike="noStrike" cap="none" dirty="0" err="1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이동</a:t>
            </a:r>
            <a:r>
              <a:rPr lang="en-US" sz="6000" b="1" u="none" strike="noStrike" cap="none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6000" b="1" u="none" strike="noStrike" cap="none" dirty="0" err="1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동선</a:t>
            </a:r>
            <a:r>
              <a:rPr lang="en-US" sz="6000" b="1" u="none" strike="noStrike" cap="none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6000" b="1" u="none" strike="noStrike" cap="none" dirty="0" err="1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연계</a:t>
            </a:r>
            <a:r>
              <a:rPr lang="en-US" sz="6000" b="1" u="none" strike="noStrike" cap="none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6000" b="1" u="none" strike="noStrike" cap="none" dirty="0" err="1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시스템</a:t>
            </a:r>
            <a:endParaRPr sz="6000" b="1" dirty="0">
              <a:solidFill>
                <a:schemeClr val="bg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3579465"/>
            <a:ext cx="110301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dirty="0">
                <a:solidFill>
                  <a:srgbClr val="94A3B8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60171668</a:t>
            </a:r>
            <a:r>
              <a:rPr lang="en-US" sz="1650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홍석진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305276" y="581025"/>
            <a:ext cx="115815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u="none" strike="noStrike" cap="none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1. </a:t>
            </a:r>
            <a:r>
              <a:rPr lang="en-US" sz="4500" b="1" u="none" strike="noStrike" cap="none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문제</a:t>
            </a:r>
            <a:r>
              <a:rPr lang="en-US" sz="4500" b="1" u="none" strike="noStrike" cap="none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4500" b="1" u="none" strike="noStrike" cap="none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정의</a:t>
            </a:r>
            <a:endParaRPr b="1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5619750" y="1638300"/>
            <a:ext cx="9525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424461" y="5088200"/>
            <a:ext cx="11343079" cy="1132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 err="1">
                <a:solidFill>
                  <a:srgbClr val="38BDF8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수도권에</a:t>
            </a:r>
            <a:r>
              <a:rPr lang="en-US" sz="2100" dirty="0">
                <a:solidFill>
                  <a:srgbClr val="38BDF8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2100" dirty="0" err="1">
                <a:solidFill>
                  <a:srgbClr val="38BDF8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편중된</a:t>
            </a:r>
            <a:r>
              <a:rPr lang="en-US" sz="2100" dirty="0">
                <a:solidFill>
                  <a:srgbClr val="38BDF8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2100" dirty="0" err="1">
                <a:solidFill>
                  <a:srgbClr val="38BDF8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관광으로</a:t>
            </a:r>
            <a:r>
              <a:rPr lang="en-US" sz="2100" dirty="0">
                <a:solidFill>
                  <a:srgbClr val="38BDF8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2100" dirty="0" err="1">
                <a:solidFill>
                  <a:srgbClr val="38BDF8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지방</a:t>
            </a:r>
            <a:r>
              <a:rPr lang="en-US" sz="2100" dirty="0">
                <a:solidFill>
                  <a:srgbClr val="38BDF8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2100" dirty="0" err="1">
                <a:solidFill>
                  <a:srgbClr val="38BDF8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관광자원의</a:t>
            </a:r>
            <a:r>
              <a:rPr lang="en-US" sz="2100" dirty="0">
                <a:solidFill>
                  <a:srgbClr val="38BDF8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2100" dirty="0" err="1">
                <a:solidFill>
                  <a:srgbClr val="38BDF8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저평가</a:t>
            </a:r>
            <a:endParaRPr sz="2100" dirty="0">
              <a:solidFill>
                <a:srgbClr val="38BDF8"/>
              </a:solidFill>
              <a:latin typeface="NanumBarunGothic" panose="020B0603020101020101" pitchFamily="34" charset="-127"/>
              <a:ea typeface="NanumBarunGothic" panose="020B0603020101020101" pitchFamily="34" charset="-127"/>
              <a:cs typeface="Urbanist"/>
              <a:sym typeface="Urbanist"/>
            </a:endParaRPr>
          </a:p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흩어진</a:t>
            </a:r>
            <a:r>
              <a:rPr lang="en-US" sz="2500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2500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지방의</a:t>
            </a:r>
            <a:r>
              <a:rPr lang="en-US" sz="2500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2500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관광지</a:t>
            </a:r>
            <a:r>
              <a:rPr lang="en-US" sz="2500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, ‘</a:t>
            </a:r>
            <a:r>
              <a:rPr lang="en-US" sz="2500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어디를</a:t>
            </a:r>
            <a:r>
              <a:rPr lang="en-US" sz="2500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&amp; </a:t>
            </a:r>
            <a:r>
              <a:rPr lang="en-US" sz="2500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어떤</a:t>
            </a:r>
            <a:r>
              <a:rPr lang="en-US" sz="2500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2500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순서로</a:t>
            </a:r>
            <a:r>
              <a:rPr lang="en-US" sz="2500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’ </a:t>
            </a:r>
            <a:r>
              <a:rPr lang="en-US" sz="2500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연계할</a:t>
            </a:r>
            <a:r>
              <a:rPr lang="en-US" sz="2500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2500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지에</a:t>
            </a:r>
            <a:r>
              <a:rPr lang="en-US" sz="2500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2500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대한</a:t>
            </a:r>
            <a:r>
              <a:rPr lang="en-US" sz="2500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2500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정보가</a:t>
            </a:r>
            <a:r>
              <a:rPr lang="en-US" sz="2500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2500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부족</a:t>
            </a:r>
            <a:endParaRPr sz="2500" dirty="0">
              <a:solidFill>
                <a:srgbClr val="F8FAFC"/>
              </a:solidFill>
              <a:latin typeface="NanumBarunGothic" panose="020B0603020101020101" pitchFamily="34" charset="-127"/>
              <a:ea typeface="NanumBarunGothic" panose="020B0603020101020101" pitchFamily="34" charset="-127"/>
              <a:cs typeface="Urbanist"/>
              <a:sym typeface="Urbanist"/>
            </a:endParaRPr>
          </a:p>
        </p:txBody>
      </p:sp>
      <p:pic>
        <p:nvPicPr>
          <p:cNvPr id="96" name="Google Shape;96;p14" title="스크린샷 2026-06-09 오전 7.41.4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8400" y="2198375"/>
            <a:ext cx="4530388" cy="2479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title="스크린샷 2026-06-09 오전 7.41.3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57642" y="2198375"/>
            <a:ext cx="5219727" cy="247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305276" y="581025"/>
            <a:ext cx="115815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2</a:t>
            </a:r>
            <a:r>
              <a:rPr lang="en-US" sz="4500" b="1" u="none" strike="noStrike" cap="none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. </a:t>
            </a:r>
            <a:r>
              <a:rPr lang="en-US" sz="4500" b="1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핵심</a:t>
            </a:r>
            <a:r>
              <a:rPr lang="en-US" sz="4500" b="1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4500" b="1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질문</a:t>
            </a:r>
            <a:endParaRPr b="1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5619750" y="1638300"/>
            <a:ext cx="9525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387391" y="2427150"/>
            <a:ext cx="11417219" cy="2289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25450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100"/>
              <a:buFont typeface="Urbanist"/>
              <a:buAutoNum type="arabicPeriod"/>
            </a:pPr>
            <a:r>
              <a:rPr lang="en-US" sz="3100" dirty="0" err="1">
                <a:solidFill>
                  <a:schemeClr val="lt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비수도권</a:t>
            </a:r>
            <a:r>
              <a:rPr lang="en-US" sz="3100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에서</a:t>
            </a:r>
            <a:r>
              <a:rPr lang="en-US" sz="3100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3100" dirty="0" err="1">
                <a:solidFill>
                  <a:srgbClr val="38BDF8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핵심이</a:t>
            </a:r>
            <a:r>
              <a:rPr lang="en-US" sz="3100" dirty="0">
                <a:solidFill>
                  <a:srgbClr val="38BDF8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3100" dirty="0" err="1">
                <a:solidFill>
                  <a:srgbClr val="38BDF8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되는</a:t>
            </a:r>
            <a:r>
              <a:rPr lang="en-US" sz="3100" dirty="0">
                <a:solidFill>
                  <a:srgbClr val="38BDF8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3100" dirty="0" err="1">
                <a:solidFill>
                  <a:srgbClr val="38BDF8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관광지</a:t>
            </a:r>
            <a:r>
              <a:rPr lang="en-US" sz="3100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는</a:t>
            </a:r>
            <a:r>
              <a:rPr lang="en-US" sz="3100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3100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어디인가</a:t>
            </a:r>
            <a:r>
              <a:rPr lang="en-US" sz="3100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?</a:t>
            </a:r>
            <a:endParaRPr sz="3100" dirty="0">
              <a:solidFill>
                <a:srgbClr val="F8FAFC"/>
              </a:solidFill>
              <a:latin typeface="NanumBarunGothic" panose="020B0603020101020101" pitchFamily="34" charset="-127"/>
              <a:ea typeface="NanumBarunGothic" panose="020B0603020101020101" pitchFamily="34" charset="-127"/>
              <a:cs typeface="Urbanist"/>
              <a:sym typeface="Urbanist"/>
            </a:endParaRPr>
          </a:p>
          <a:p>
            <a:pPr marL="457200" marR="0" lvl="0" indent="-425450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100"/>
              <a:buFont typeface="Urbanist"/>
              <a:buAutoNum type="arabicPeriod"/>
            </a:pPr>
            <a:r>
              <a:rPr lang="en-US" sz="3100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핵심</a:t>
            </a:r>
            <a:r>
              <a:rPr lang="en-US" sz="3100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3100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허브</a:t>
            </a:r>
            <a:r>
              <a:rPr lang="en-US" sz="3100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3100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관광지와</a:t>
            </a:r>
            <a:r>
              <a:rPr lang="en-US" sz="3100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3100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배후</a:t>
            </a:r>
            <a:r>
              <a:rPr lang="en-US" sz="3100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3100" dirty="0" err="1">
                <a:solidFill>
                  <a:srgbClr val="38BDF8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인프라</a:t>
            </a:r>
            <a:r>
              <a:rPr lang="en-US" sz="3100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3100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간의</a:t>
            </a:r>
            <a:r>
              <a:rPr lang="en-US" sz="3100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3100" dirty="0" err="1">
                <a:solidFill>
                  <a:srgbClr val="38BDF8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관련성</a:t>
            </a:r>
            <a:r>
              <a:rPr lang="en-US" sz="3100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은</a:t>
            </a:r>
            <a:r>
              <a:rPr lang="en-US" sz="3100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3100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어떻게</a:t>
            </a:r>
            <a:r>
              <a:rPr lang="en-US" sz="3100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3100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되는가</a:t>
            </a:r>
            <a:r>
              <a:rPr lang="en-US" sz="3100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?</a:t>
            </a:r>
            <a:endParaRPr sz="3100" dirty="0">
              <a:solidFill>
                <a:srgbClr val="F8FAFC"/>
              </a:solidFill>
              <a:latin typeface="NanumBarunGothic" panose="020B0603020101020101" pitchFamily="34" charset="-127"/>
              <a:ea typeface="NanumBarunGothic" panose="020B0603020101020101" pitchFamily="34" charset="-127"/>
              <a:cs typeface="Urbanist"/>
              <a:sym typeface="Urbanist"/>
            </a:endParaRPr>
          </a:p>
          <a:p>
            <a:pPr marL="457200" marR="0" lvl="0" indent="-425450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100"/>
              <a:buFont typeface="Urbanist"/>
              <a:buAutoNum type="arabicPeriod"/>
            </a:pPr>
            <a:r>
              <a:rPr lang="en-US" sz="3100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허브를</a:t>
            </a:r>
            <a:r>
              <a:rPr lang="en-US" sz="3100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3100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중심으로</a:t>
            </a:r>
            <a:r>
              <a:rPr lang="en-US" sz="3100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3100" dirty="0" err="1">
                <a:solidFill>
                  <a:srgbClr val="38BDF8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연계</a:t>
            </a:r>
            <a:r>
              <a:rPr lang="en-US" sz="3100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할</a:t>
            </a:r>
            <a:r>
              <a:rPr lang="en-US" sz="3100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3100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수</a:t>
            </a:r>
            <a:r>
              <a:rPr lang="en-US" sz="3100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3100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있는</a:t>
            </a:r>
            <a:r>
              <a:rPr lang="en-US" sz="3100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3100" dirty="0" err="1">
                <a:solidFill>
                  <a:srgbClr val="38BDF8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여행</a:t>
            </a:r>
            <a:r>
              <a:rPr lang="en-US" sz="3100" dirty="0">
                <a:solidFill>
                  <a:srgbClr val="38BDF8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3100" dirty="0" err="1">
                <a:solidFill>
                  <a:srgbClr val="38BDF8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동선</a:t>
            </a:r>
            <a:r>
              <a:rPr lang="en-US" sz="3100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을</a:t>
            </a:r>
            <a:r>
              <a:rPr lang="en-US" sz="3100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3100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도출할</a:t>
            </a:r>
            <a:r>
              <a:rPr lang="en-US" sz="3100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3100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수</a:t>
            </a:r>
            <a:r>
              <a:rPr lang="en-US" sz="3100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3100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있나</a:t>
            </a:r>
            <a:r>
              <a:rPr lang="en-US" sz="3100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?</a:t>
            </a:r>
            <a:endParaRPr sz="3100" dirty="0">
              <a:solidFill>
                <a:srgbClr val="F8FAFC"/>
              </a:solidFill>
              <a:latin typeface="NanumBarunGothic" panose="020B0603020101020101" pitchFamily="34" charset="-127"/>
              <a:ea typeface="NanumBarunGothic" panose="020B0603020101020101" pitchFamily="34" charset="-127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/>
        </p:nvSpPr>
        <p:spPr>
          <a:xfrm>
            <a:off x="305276" y="581025"/>
            <a:ext cx="115815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3</a:t>
            </a:r>
            <a:r>
              <a:rPr lang="en-US" sz="4500" b="1" u="none" strike="noStrike" cap="none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. </a:t>
            </a:r>
            <a:r>
              <a:rPr lang="en-US" sz="4500" b="1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파이프라인</a:t>
            </a:r>
            <a:endParaRPr b="1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5619750" y="1638300"/>
            <a:ext cx="9525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1352550" y="2005075"/>
            <a:ext cx="2057400" cy="32547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6305550" y="2005075"/>
            <a:ext cx="2057400" cy="32547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3829050" y="2005075"/>
            <a:ext cx="2057400" cy="32547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8782050" y="2005075"/>
            <a:ext cx="2057400" cy="32547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1733550" y="2909900"/>
            <a:ext cx="1295400" cy="772800"/>
          </a:xfrm>
          <a:prstGeom prst="roundRect">
            <a:avLst>
              <a:gd name="adj" fmla="val 16667"/>
            </a:avLst>
          </a:prstGeom>
          <a:solidFill>
            <a:srgbClr val="45818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Calibri"/>
                <a:sym typeface="Calibri"/>
              </a:rPr>
              <a:t>한국관광공사</a:t>
            </a:r>
            <a:endParaRPr b="1" dirty="0">
              <a:solidFill>
                <a:srgbClr val="F8FAFC"/>
              </a:solidFill>
              <a:latin typeface="NanumBarunGothic" panose="020B0603020101020101" pitchFamily="34" charset="-127"/>
              <a:ea typeface="NanumBarunGothic" panose="020B0603020101020101" pitchFamily="34" charset="-127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Calibri"/>
                <a:sym typeface="Calibri"/>
              </a:rPr>
              <a:t>OpenAPI</a:t>
            </a:r>
            <a:endParaRPr b="1" dirty="0">
              <a:solidFill>
                <a:srgbClr val="F8FAFC"/>
              </a:solidFill>
              <a:latin typeface="NanumBarunGothic" panose="020B0603020101020101" pitchFamily="34" charset="-127"/>
              <a:ea typeface="NanumBarunGothic" panose="020B0603020101020101" pitchFamily="34" charset="-127"/>
              <a:cs typeface="Calibri"/>
              <a:sym typeface="Calibri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1619250" y="2146575"/>
            <a:ext cx="1524000" cy="5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45818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데이터 수집</a:t>
            </a:r>
            <a:endParaRPr sz="1800" b="1">
              <a:solidFill>
                <a:srgbClr val="45818E"/>
              </a:solidFill>
              <a:latin typeface="NanumBarunGothic" panose="020B0603020101020101" pitchFamily="34" charset="-127"/>
              <a:ea typeface="NanumBarunGothic" panose="020B0603020101020101" pitchFamily="34" charset="-127"/>
              <a:cs typeface="Urbanist"/>
              <a:sym typeface="Urbanist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4135501" y="2146575"/>
            <a:ext cx="1444500" cy="5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45818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데이터 적재</a:t>
            </a:r>
            <a:endParaRPr sz="1800" b="1">
              <a:solidFill>
                <a:srgbClr val="45818E"/>
              </a:solidFill>
              <a:latin typeface="NanumBarunGothic" panose="020B0603020101020101" pitchFamily="34" charset="-127"/>
              <a:ea typeface="NanumBarunGothic" panose="020B0603020101020101" pitchFamily="34" charset="-127"/>
              <a:cs typeface="Urbanist"/>
              <a:sym typeface="Urbanist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6572250" y="2146575"/>
            <a:ext cx="1521426" cy="5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rgbClr val="45818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전처리·분석</a:t>
            </a:r>
            <a:endParaRPr sz="1800" b="1" dirty="0">
              <a:solidFill>
                <a:srgbClr val="45818E"/>
              </a:solidFill>
              <a:latin typeface="NanumBarunGothic" panose="020B0603020101020101" pitchFamily="34" charset="-127"/>
              <a:ea typeface="NanumBarunGothic" panose="020B0603020101020101" pitchFamily="34" charset="-127"/>
              <a:cs typeface="Urbanist"/>
              <a:sym typeface="Urbanist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9190200" y="2146575"/>
            <a:ext cx="1241100" cy="5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45818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시각화</a:t>
            </a:r>
            <a:endParaRPr sz="1800" b="1">
              <a:solidFill>
                <a:srgbClr val="45818E"/>
              </a:solidFill>
              <a:latin typeface="NanumBarunGothic" panose="020B0603020101020101" pitchFamily="34" charset="-127"/>
              <a:ea typeface="NanumBarunGothic" panose="020B0603020101020101" pitchFamily="34" charset="-127"/>
              <a:cs typeface="Urbanist"/>
              <a:sym typeface="Urbanist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4210050" y="2909900"/>
            <a:ext cx="1295400" cy="772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NanumBarunGothic" panose="020B0603020101020101" pitchFamily="34" charset="-127"/>
                <a:ea typeface="NanumBarunGothic" panose="020B0603020101020101" pitchFamily="34" charset="-127"/>
                <a:cs typeface="Calibri"/>
                <a:sym typeface="Calibri"/>
              </a:rPr>
              <a:t>HDP</a:t>
            </a:r>
            <a:endParaRPr sz="1500" b="1">
              <a:latin typeface="NanumBarunGothic" panose="020B0603020101020101" pitchFamily="34" charset="-127"/>
              <a:ea typeface="NanumBarunGothic" panose="020B0603020101020101" pitchFamily="34" charset="-127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6686550" y="2909900"/>
            <a:ext cx="1295400" cy="772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NanumBarunGothic" panose="020B0603020101020101" pitchFamily="34" charset="-127"/>
                <a:ea typeface="NanumBarunGothic" panose="020B0603020101020101" pitchFamily="34" charset="-127"/>
                <a:cs typeface="Calibri"/>
                <a:sym typeface="Calibri"/>
              </a:rPr>
              <a:t>Hive</a:t>
            </a:r>
            <a:endParaRPr sz="1500" b="1">
              <a:latin typeface="NanumBarunGothic" panose="020B0603020101020101" pitchFamily="34" charset="-127"/>
              <a:ea typeface="NanumBarunGothic" panose="020B0603020101020101" pitchFamily="34" charset="-127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NanumBarunGothic" panose="020B0603020101020101" pitchFamily="34" charset="-127"/>
                <a:ea typeface="NanumBarunGothic" panose="020B0603020101020101" pitchFamily="34" charset="-127"/>
                <a:cs typeface="Calibri"/>
                <a:sym typeface="Calibri"/>
              </a:rPr>
              <a:t>(HiveQL)</a:t>
            </a:r>
            <a:endParaRPr sz="1500" b="1">
              <a:latin typeface="NanumBarunGothic" panose="020B0603020101020101" pitchFamily="34" charset="-127"/>
              <a:ea typeface="NanumBarunGothic" panose="020B0603020101020101" pitchFamily="34" charset="-127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9163050" y="2909900"/>
            <a:ext cx="1295400" cy="772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NanumBarunGothic" panose="020B0603020101020101" pitchFamily="34" charset="-127"/>
                <a:ea typeface="NanumBarunGothic" panose="020B0603020101020101" pitchFamily="34" charset="-127"/>
                <a:cs typeface="Calibri"/>
                <a:sym typeface="Calibri"/>
              </a:rPr>
              <a:t>matplotlib</a:t>
            </a:r>
            <a:endParaRPr sz="1500" b="1">
              <a:latin typeface="NanumBarunGothic" panose="020B0603020101020101" pitchFamily="34" charset="-127"/>
              <a:ea typeface="NanumBarunGothic" panose="020B0603020101020101" pitchFamily="34" charset="-127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1733550" y="3869125"/>
            <a:ext cx="1295400" cy="772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NanumBarunGothic" panose="020B0603020101020101" pitchFamily="34" charset="-127"/>
                <a:ea typeface="NanumBarunGothic" panose="020B0603020101020101" pitchFamily="34" charset="-127"/>
                <a:cs typeface="Calibri"/>
                <a:sym typeface="Calibri"/>
              </a:rPr>
              <a:t>Python</a:t>
            </a:r>
            <a:endParaRPr sz="1500" b="1">
              <a:latin typeface="NanumBarunGothic" panose="020B0603020101020101" pitchFamily="34" charset="-127"/>
              <a:ea typeface="NanumBarunGothic" panose="020B0603020101020101" pitchFamily="34" charset="-127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4210050" y="3869125"/>
            <a:ext cx="1295400" cy="772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NanumBarunGothic" panose="020B0603020101020101" pitchFamily="34" charset="-127"/>
                <a:ea typeface="NanumBarunGothic" panose="020B0603020101020101" pitchFamily="34" charset="-127"/>
                <a:cs typeface="Calibri"/>
                <a:sym typeface="Calibri"/>
              </a:rPr>
              <a:t>HDFS</a:t>
            </a:r>
            <a:endParaRPr sz="1500" b="1">
              <a:latin typeface="NanumBarunGothic" panose="020B0603020101020101" pitchFamily="34" charset="-127"/>
              <a:ea typeface="NanumBarunGothic" panose="020B0603020101020101" pitchFamily="34" charset="-127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6686550" y="3869125"/>
            <a:ext cx="1295400" cy="772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NanumBarunGothic" panose="020B0603020101020101" pitchFamily="34" charset="-127"/>
                <a:ea typeface="NanumBarunGothic" panose="020B0603020101020101" pitchFamily="34" charset="-127"/>
                <a:cs typeface="Calibri"/>
                <a:sym typeface="Calibri"/>
              </a:rPr>
              <a:t>Spark</a:t>
            </a:r>
            <a:endParaRPr sz="1500" b="1">
              <a:latin typeface="NanumBarunGothic" panose="020B0603020101020101" pitchFamily="34" charset="-127"/>
              <a:ea typeface="NanumBarunGothic" panose="020B0603020101020101" pitchFamily="34" charset="-127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9163050" y="3869125"/>
            <a:ext cx="1295400" cy="772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NanumBarunGothic" panose="020B0603020101020101" pitchFamily="34" charset="-127"/>
                <a:ea typeface="NanumBarunGothic" panose="020B0603020101020101" pitchFamily="34" charset="-127"/>
                <a:cs typeface="Calibri"/>
                <a:sym typeface="Calibri"/>
              </a:rPr>
              <a:t>folium</a:t>
            </a:r>
            <a:endParaRPr sz="1500" b="1">
              <a:latin typeface="NanumBarunGothic" panose="020B0603020101020101" pitchFamily="34" charset="-127"/>
              <a:ea typeface="NanumBarunGothic" panose="020B0603020101020101" pitchFamily="34" charset="-127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3501150" y="3446425"/>
            <a:ext cx="236700" cy="372000"/>
          </a:xfrm>
          <a:prstGeom prst="homePlate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5977650" y="3446425"/>
            <a:ext cx="236700" cy="372000"/>
          </a:xfrm>
          <a:prstGeom prst="homePlate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8454150" y="3446425"/>
            <a:ext cx="236700" cy="372000"/>
          </a:xfrm>
          <a:prstGeom prst="homePlate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581025" y="1609725"/>
            <a:ext cx="110301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한국관광공사 연관 관광지 데이터(Tmap 연계방문기록)를 통해 가장 많이 연계된 관광지를 ‘핵심 허브 관광지’로 도출</a:t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grpSp>
        <p:nvGrpSpPr>
          <p:cNvPr id="139" name="Google Shape;139;p17"/>
          <p:cNvGrpSpPr/>
          <p:nvPr/>
        </p:nvGrpSpPr>
        <p:grpSpPr>
          <a:xfrm>
            <a:off x="6286500" y="2135385"/>
            <a:ext cx="5324474" cy="4236839"/>
            <a:chOff x="6286500" y="2135385"/>
            <a:chExt cx="5324474" cy="4236839"/>
          </a:xfrm>
        </p:grpSpPr>
        <p:pic>
          <p:nvPicPr>
            <p:cNvPr id="140" name="Google Shape;140;p17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286500" y="2135385"/>
              <a:ext cx="5324474" cy="42368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7"/>
            <p:cNvSpPr txBox="1"/>
            <p:nvPr/>
          </p:nvSpPr>
          <p:spPr>
            <a:xfrm>
              <a:off x="6507075" y="2396429"/>
              <a:ext cx="4970700" cy="3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50" dirty="0" err="1">
                  <a:solidFill>
                    <a:srgbClr val="38BDF8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비수도권</a:t>
              </a:r>
              <a:r>
                <a:rPr lang="en-US" sz="2050" dirty="0">
                  <a:solidFill>
                    <a:srgbClr val="38BDF8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2050" dirty="0" err="1">
                  <a:solidFill>
                    <a:srgbClr val="38BDF8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핵심</a:t>
              </a:r>
              <a:r>
                <a:rPr lang="en-US" sz="2050" dirty="0">
                  <a:solidFill>
                    <a:srgbClr val="38BDF8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2050" dirty="0" err="1">
                  <a:solidFill>
                    <a:srgbClr val="38BDF8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관광지</a:t>
              </a:r>
              <a:endParaRPr sz="1500" dirty="0"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endParaRPr>
            </a:p>
          </p:txBody>
        </p:sp>
        <p:sp>
          <p:nvSpPr>
            <p:cNvPr id="142" name="Google Shape;142;p17"/>
            <p:cNvSpPr/>
            <p:nvPr/>
          </p:nvSpPr>
          <p:spPr>
            <a:xfrm>
              <a:off x="6581775" y="2878335"/>
              <a:ext cx="4734000" cy="19200"/>
            </a:xfrm>
            <a:prstGeom prst="rect">
              <a:avLst/>
            </a:prstGeom>
            <a:solidFill>
              <a:srgbClr val="33415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u="none" strike="noStrike" cap="none">
                <a:solidFill>
                  <a:schemeClr val="dk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Calibri"/>
                <a:sym typeface="Calibri"/>
              </a:endParaRPr>
            </a:p>
          </p:txBody>
        </p:sp>
        <p:sp>
          <p:nvSpPr>
            <p:cNvPr id="143" name="Google Shape;143;p17"/>
            <p:cNvSpPr txBox="1"/>
            <p:nvPr/>
          </p:nvSpPr>
          <p:spPr>
            <a:xfrm>
              <a:off x="6581775" y="2973072"/>
              <a:ext cx="4970700" cy="7917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50" u="none" strike="noStrike" cap="none" dirty="0" err="1">
                  <a:solidFill>
                    <a:schemeClr val="lt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연결성</a:t>
              </a:r>
              <a:r>
                <a:rPr lang="en-US" sz="1750" u="none" strike="noStrike" cap="none" dirty="0">
                  <a:solidFill>
                    <a:schemeClr val="lt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1750" u="none" strike="noStrike" cap="none" dirty="0" err="1">
                  <a:solidFill>
                    <a:schemeClr val="lt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합계</a:t>
              </a:r>
              <a:r>
                <a:rPr lang="en-US" sz="1750" u="none" strike="noStrike" cap="none" dirty="0">
                  <a:solidFill>
                    <a:schemeClr val="lt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1750" u="none" strike="noStrike" cap="none" dirty="0" err="1">
                  <a:solidFill>
                    <a:schemeClr val="lt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기준</a:t>
              </a:r>
              <a:r>
                <a:rPr lang="en-US" sz="1750" u="none" strike="noStrike" cap="none" dirty="0">
                  <a:solidFill>
                    <a:schemeClr val="lt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Top </a:t>
              </a:r>
              <a:r>
                <a:rPr lang="en-US" sz="1750" u="none" strike="noStrike" cap="none" dirty="0" err="1">
                  <a:solidFill>
                    <a:schemeClr val="lt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시군구</a:t>
              </a:r>
              <a:r>
                <a:rPr lang="en-US" sz="1750" u="none" strike="noStrike" cap="none" dirty="0">
                  <a:solidFill>
                    <a:schemeClr val="lt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:</a:t>
              </a:r>
              <a:br>
                <a:rPr lang="en-US" sz="1900" u="none" strike="noStrike" cap="none" dirty="0">
                  <a:solidFill>
                    <a:schemeClr val="lt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</a:br>
              <a:r>
                <a:rPr lang="en-US" sz="1750" u="none" strike="noStrike" cap="none" dirty="0">
                  <a:solidFill>
                    <a:schemeClr val="lt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altLang="ko-KR" sz="1750" u="none" strike="noStrike" cap="none" dirty="0">
                  <a:solidFill>
                    <a:schemeClr val="lt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-</a:t>
              </a:r>
              <a:r>
                <a:rPr lang="ko-KR" altLang="en-US" sz="1750" u="none" strike="noStrike" cap="none" dirty="0">
                  <a:solidFill>
                    <a:schemeClr val="lt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1750" u="none" strike="noStrike" cap="none" dirty="0" err="1">
                  <a:solidFill>
                    <a:schemeClr val="lt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제주시</a:t>
              </a:r>
              <a:r>
                <a:rPr lang="en-US" sz="1750" u="none" strike="noStrike" cap="none" dirty="0">
                  <a:solidFill>
                    <a:schemeClr val="lt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, </a:t>
              </a:r>
              <a:r>
                <a:rPr lang="en-US" sz="1750" u="none" strike="noStrike" cap="none" dirty="0" err="1">
                  <a:solidFill>
                    <a:schemeClr val="lt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서귀포시</a:t>
              </a:r>
              <a:r>
                <a:rPr lang="en-US" sz="1750" u="none" strike="noStrike" cap="none" dirty="0">
                  <a:solidFill>
                    <a:schemeClr val="lt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, </a:t>
              </a:r>
              <a:r>
                <a:rPr lang="en-US" sz="1750" u="none" strike="noStrike" cap="none" dirty="0" err="1">
                  <a:solidFill>
                    <a:schemeClr val="lt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거제시</a:t>
              </a:r>
              <a:r>
                <a:rPr lang="en-US" sz="1750" u="none" strike="noStrike" cap="none" dirty="0">
                  <a:solidFill>
                    <a:schemeClr val="lt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, </a:t>
              </a:r>
              <a:r>
                <a:rPr lang="en-US" sz="1750" u="none" strike="noStrike" cap="none" dirty="0" err="1">
                  <a:solidFill>
                    <a:schemeClr val="lt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강릉시</a:t>
              </a:r>
              <a:r>
                <a:rPr lang="en-US" sz="1750" u="none" strike="noStrike" cap="none" dirty="0">
                  <a:solidFill>
                    <a:schemeClr val="lt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, </a:t>
              </a:r>
              <a:r>
                <a:rPr lang="en-US" sz="1750" u="none" strike="noStrike" cap="none" dirty="0" err="1">
                  <a:solidFill>
                    <a:schemeClr val="lt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태안군</a:t>
              </a:r>
              <a:r>
                <a:rPr lang="en-US" sz="1750" u="none" strike="noStrike" cap="none" dirty="0">
                  <a:solidFill>
                    <a:schemeClr val="lt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, </a:t>
              </a:r>
              <a:r>
                <a:rPr lang="en-US" sz="1750" u="none" strike="noStrike" cap="none" dirty="0" err="1">
                  <a:solidFill>
                    <a:schemeClr val="lt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여수시</a:t>
              </a:r>
              <a:endParaRPr sz="1500" dirty="0">
                <a:solidFill>
                  <a:schemeClr val="lt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endParaRPr>
            </a:p>
          </p:txBody>
        </p:sp>
        <p:sp>
          <p:nvSpPr>
            <p:cNvPr id="144" name="Google Shape;144;p17"/>
            <p:cNvSpPr txBox="1"/>
            <p:nvPr/>
          </p:nvSpPr>
          <p:spPr>
            <a:xfrm>
              <a:off x="6581775" y="4432265"/>
              <a:ext cx="4448100" cy="15835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50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HiveQL </a:t>
              </a:r>
              <a:r>
                <a:rPr lang="en-US" sz="1750" u="none" strike="noStrike" cap="none" dirty="0" err="1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계절</a:t>
              </a:r>
              <a:r>
                <a:rPr lang="en-US" sz="1750" dirty="0" err="1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별</a:t>
              </a:r>
              <a:r>
                <a:rPr lang="en-US" sz="1750" u="none" strike="noStrike" cap="none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1750" u="none" strike="noStrike" cap="none" dirty="0" err="1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통계</a:t>
              </a:r>
              <a:r>
                <a:rPr lang="en-US" sz="1750" u="none" strike="noStrike" cap="none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(</a:t>
              </a:r>
              <a:r>
                <a:rPr lang="en-US" sz="1750" u="none" strike="noStrike" cap="none" dirty="0" err="1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일평균</a:t>
              </a:r>
              <a:r>
                <a:rPr lang="en-US" sz="1750" u="none" strike="noStrike" cap="none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1750" u="none" strike="noStrike" cap="none" dirty="0" err="1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방문자</a:t>
              </a:r>
              <a:r>
                <a:rPr lang="en-US" sz="1750" u="none" strike="noStrike" cap="none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):</a:t>
              </a:r>
              <a:br>
                <a:rPr lang="en-US" sz="1900" u="none" strike="noStrike" cap="none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</a:br>
              <a:r>
                <a:rPr lang="en-US" sz="1750" u="none" strike="noStrike" cap="none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- </a:t>
              </a:r>
              <a:r>
                <a:rPr lang="en-US" sz="1750" u="none" strike="noStrike" cap="none" dirty="0" err="1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해안</a:t>
              </a:r>
              <a:r>
                <a:rPr lang="en-US" sz="1750" u="none" strike="noStrike" cap="none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1750" u="none" strike="noStrike" cap="none" dirty="0" err="1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도시</a:t>
              </a:r>
              <a:r>
                <a:rPr lang="en-US" sz="1750" u="none" strike="noStrike" cap="none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(</a:t>
              </a:r>
              <a:r>
                <a:rPr lang="en-US" sz="1750" u="none" strike="noStrike" cap="none" dirty="0" err="1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속초</a:t>
              </a:r>
              <a:r>
                <a:rPr lang="en-US" sz="1750" u="none" strike="noStrike" cap="none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, </a:t>
              </a:r>
              <a:r>
                <a:rPr lang="en-US" sz="1750" u="none" strike="noStrike" cap="none" dirty="0" err="1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양양</a:t>
              </a:r>
              <a:r>
                <a:rPr lang="en-US" sz="1750" u="none" strike="noStrike" cap="none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)</a:t>
              </a:r>
              <a:r>
                <a:rPr lang="ko-KR" altLang="en-US" sz="1750" u="none" strike="noStrike" cap="none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altLang="ko-KR" sz="1750" u="none" strike="noStrike" cap="none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-</a:t>
              </a:r>
              <a:r>
                <a:rPr lang="ko-KR" altLang="en-US" sz="1750" u="none" strike="noStrike" cap="none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1750" u="none" strike="noStrike" cap="none" dirty="0" err="1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여름</a:t>
              </a:r>
              <a:r>
                <a:rPr lang="en-US" sz="1750" u="none" strike="noStrike" cap="none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1750" u="none" strike="noStrike" cap="none" dirty="0" err="1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피크</a:t>
              </a:r>
              <a:br>
                <a:rPr lang="en-US" sz="1900" u="none" strike="noStrike" cap="none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</a:br>
              <a:r>
                <a:rPr lang="en-US" sz="1750" u="none" strike="noStrike" cap="none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- </a:t>
              </a:r>
              <a:r>
                <a:rPr lang="en-US" sz="1750" u="none" strike="noStrike" cap="none" dirty="0" err="1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산악</a:t>
              </a:r>
              <a:r>
                <a:rPr lang="en-US" sz="1750" u="none" strike="noStrike" cap="none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1750" u="none" strike="noStrike" cap="none" dirty="0" err="1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지대</a:t>
              </a:r>
              <a:r>
                <a:rPr lang="en-US" sz="1750" u="none" strike="noStrike" cap="none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(</a:t>
              </a:r>
              <a:r>
                <a:rPr lang="en-US" sz="1750" u="none" strike="noStrike" cap="none" dirty="0" err="1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평창</a:t>
              </a:r>
              <a:r>
                <a:rPr lang="en-US" sz="1750" u="none" strike="noStrike" cap="none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)</a:t>
              </a:r>
              <a:r>
                <a:rPr lang="ko-KR" altLang="en-US" sz="1750" u="none" strike="noStrike" cap="none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altLang="ko-KR" sz="1750" u="none" strike="noStrike" cap="none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-</a:t>
              </a:r>
              <a:r>
                <a:rPr lang="ko-KR" altLang="en-US" sz="1750" u="none" strike="noStrike" cap="none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1750" u="none" strike="noStrike" cap="none" dirty="0" err="1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겨울</a:t>
              </a:r>
              <a:r>
                <a:rPr lang="en-US" sz="1750" u="none" strike="noStrike" cap="none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1750" u="none" strike="noStrike" cap="none" dirty="0" err="1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비중</a:t>
              </a:r>
              <a:r>
                <a:rPr lang="en-US" sz="1750" u="none" strike="noStrike" cap="none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1750" u="none" strike="noStrike" cap="none" dirty="0" err="1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증가</a:t>
              </a:r>
              <a:br>
                <a:rPr lang="en-US" sz="1900" u="none" strike="noStrike" cap="none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</a:br>
              <a:r>
                <a:rPr lang="en-US" sz="1750" u="none" strike="noStrike" cap="none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- </a:t>
              </a:r>
              <a:r>
                <a:rPr lang="en-US" sz="1750" u="none" strike="noStrike" cap="none" dirty="0" err="1">
                  <a:solidFill>
                    <a:srgbClr val="38BDF8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제주특별자치도</a:t>
              </a:r>
              <a:r>
                <a:rPr lang="ko-KR" altLang="en-US" sz="1750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altLang="ko-KR" sz="1750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-</a:t>
              </a:r>
              <a:r>
                <a:rPr lang="en-US" sz="1750" u="none" strike="noStrike" cap="none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1750" u="none" strike="noStrike" cap="none" dirty="0" err="1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연중</a:t>
              </a:r>
              <a:r>
                <a:rPr lang="en-US" sz="1750" u="none" strike="noStrike" cap="none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1750" u="none" strike="noStrike" cap="none" dirty="0" err="1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고른</a:t>
              </a:r>
              <a:r>
                <a:rPr lang="en-US" sz="1750" u="none" strike="noStrike" cap="none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1750" u="none" strike="noStrike" cap="none" dirty="0" err="1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방문</a:t>
              </a:r>
              <a:r>
                <a:rPr lang="en-US" sz="1750" u="none" strike="noStrike" cap="none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1750" u="none" strike="noStrike" cap="none" dirty="0" err="1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분포</a:t>
              </a:r>
              <a:endParaRPr sz="1500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endParaRPr>
            </a:p>
          </p:txBody>
        </p:sp>
      </p:grpSp>
      <p:sp>
        <p:nvSpPr>
          <p:cNvPr id="147" name="Google Shape;147;p17"/>
          <p:cNvSpPr txBox="1"/>
          <p:nvPr/>
        </p:nvSpPr>
        <p:spPr>
          <a:xfrm>
            <a:off x="771525" y="534675"/>
            <a:ext cx="82209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4.1.</a:t>
            </a:r>
            <a:r>
              <a:rPr lang="en-US" sz="3450" b="1" u="none" strike="noStrike" cap="none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3450" b="1" u="none" strike="noStrike" cap="none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핵심</a:t>
            </a:r>
            <a:r>
              <a:rPr lang="en-US" sz="3450" b="1" u="none" strike="noStrike" cap="none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3450" b="1" u="none" strike="noStrike" cap="none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관광</a:t>
            </a:r>
            <a:r>
              <a:rPr lang="en-US" sz="3450" b="1" u="none" strike="noStrike" cap="none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3450" b="1" u="none" strike="noStrike" cap="none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허브</a:t>
            </a:r>
            <a:r>
              <a:rPr lang="en-US" sz="3450" b="1" u="none" strike="noStrike" cap="none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3450" b="1" u="none" strike="noStrike" cap="none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발굴</a:t>
            </a:r>
            <a:r>
              <a:rPr lang="en-US" sz="3450" b="1" u="none" strike="noStrike" cap="none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3450" b="1" u="none" strike="noStrike" cap="none" dirty="0">
                <a:solidFill>
                  <a:srgbClr val="38BDF8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(GROUP </a:t>
            </a:r>
            <a:r>
              <a:rPr lang="en-US" sz="3450" b="1" u="none" strike="noStrike" cap="none" dirty="0" err="1">
                <a:solidFill>
                  <a:srgbClr val="38BDF8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BY·통계</a:t>
            </a:r>
            <a:r>
              <a:rPr lang="en-US" sz="3450" b="1" u="none" strike="noStrike" cap="none" dirty="0">
                <a:solidFill>
                  <a:srgbClr val="38BDF8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)</a:t>
            </a:r>
            <a:endParaRPr b="1" dirty="0">
              <a:latin typeface="NanumBarunGothic" panose="020B0603020101020101" pitchFamily="34" charset="-127"/>
              <a:ea typeface="NanumBarunGothic" panose="020B0603020101020101" pitchFamily="34" charset="-127"/>
              <a:cs typeface="Urbanist"/>
              <a:sym typeface="Urbanist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581025" y="485775"/>
            <a:ext cx="76200" cy="628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7233F4D-CAD4-1079-A8AC-F584CF0C7BD8}"/>
              </a:ext>
            </a:extLst>
          </p:cNvPr>
          <p:cNvGrpSpPr/>
          <p:nvPr/>
        </p:nvGrpSpPr>
        <p:grpSpPr>
          <a:xfrm>
            <a:off x="876225" y="2130902"/>
            <a:ext cx="4733999" cy="4460020"/>
            <a:chOff x="771525" y="2135375"/>
            <a:chExt cx="4733999" cy="4460020"/>
          </a:xfrm>
        </p:grpSpPr>
        <p:pic>
          <p:nvPicPr>
            <p:cNvPr id="137" name="Google Shape;137;p17" title="스크린샷 2026-06-09 오전 7.30.15.png"/>
            <p:cNvPicPr preferRelativeResize="0"/>
            <p:nvPr/>
          </p:nvPicPr>
          <p:blipFill rotWithShape="1">
            <a:blip r:embed="rId5">
              <a:alphaModFix/>
            </a:blip>
            <a:srcRect r="14119" b="50414"/>
            <a:stretch/>
          </p:blipFill>
          <p:spPr>
            <a:xfrm>
              <a:off x="771525" y="2135375"/>
              <a:ext cx="4733999" cy="21008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" name="Google Shape;149;p17" title="스크린샷 2026-06-09 오전 7.30.24.png"/>
            <p:cNvPicPr preferRelativeResize="0"/>
            <p:nvPr/>
          </p:nvPicPr>
          <p:blipFill rotWithShape="1">
            <a:blip r:embed="rId6">
              <a:alphaModFix/>
            </a:blip>
            <a:srcRect t="3561" r="14119" b="48193"/>
            <a:stretch/>
          </p:blipFill>
          <p:spPr>
            <a:xfrm>
              <a:off x="771525" y="3648176"/>
              <a:ext cx="4733999" cy="1719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FFEA580D-DD2D-F118-F0A8-E8346F119A6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71525" y="5128054"/>
              <a:ext cx="4733999" cy="146734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 title="스크린샷 2026-06-09 오전 7.30.33.png"/>
          <p:cNvPicPr preferRelativeResize="0"/>
          <p:nvPr/>
        </p:nvPicPr>
        <p:blipFill rotWithShape="1">
          <a:blip r:embed="rId4">
            <a:alphaModFix/>
          </a:blip>
          <a:srcRect l="288" r="298"/>
          <a:stretch/>
        </p:blipFill>
        <p:spPr>
          <a:xfrm>
            <a:off x="581025" y="2151260"/>
            <a:ext cx="5324474" cy="423684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581025" y="1609725"/>
            <a:ext cx="110301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i="0" u="none" strike="noStrike" cap="none" dirty="0" err="1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허브</a:t>
            </a:r>
            <a:r>
              <a:rPr lang="en-US" sz="1650" i="0" u="none" strike="noStrike" cap="none" dirty="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1650" i="0" u="none" strike="noStrike" cap="none" dirty="0" err="1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관광지</a:t>
            </a:r>
            <a:r>
              <a:rPr lang="en-US" sz="1650" i="0" u="none" strike="noStrike" cap="none" dirty="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5km </a:t>
            </a:r>
            <a:r>
              <a:rPr lang="en-US" sz="1650" i="0" u="none" strike="noStrike" cap="none" dirty="0" err="1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내</a:t>
            </a:r>
            <a:r>
              <a:rPr lang="en-US" sz="1650" i="0" u="none" strike="noStrike" cap="none" dirty="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1650" i="0" u="none" strike="noStrike" cap="none" dirty="0" err="1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인프라</a:t>
            </a:r>
            <a:r>
              <a:rPr lang="en-US" sz="1650" i="0" u="none" strike="noStrike" cap="none" dirty="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(</a:t>
            </a:r>
            <a:r>
              <a:rPr lang="en-US" sz="1650" i="0" u="none" strike="noStrike" cap="none" dirty="0" err="1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숙박·음식·쇼핑</a:t>
            </a:r>
            <a:r>
              <a:rPr lang="en-US" sz="1650" i="0" u="none" strike="noStrike" cap="none" dirty="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)</a:t>
            </a:r>
            <a:r>
              <a:rPr lang="en-US" sz="1650" i="0" u="none" strike="noStrike" cap="none" dirty="0" err="1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를</a:t>
            </a:r>
            <a:r>
              <a:rPr lang="en-US" sz="1650" i="0" u="none" strike="noStrike" cap="none" dirty="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1650" i="0" u="none" strike="noStrike" cap="none" dirty="0" err="1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JOIN</a:t>
            </a:r>
            <a:r>
              <a:rPr lang="en-US" sz="1650" dirty="0" err="1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하고</a:t>
            </a:r>
            <a:r>
              <a:rPr lang="en-US" sz="1650" dirty="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1650" dirty="0" err="1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허브별로</a:t>
            </a:r>
            <a:r>
              <a:rPr lang="en-US" sz="1650" dirty="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1650" dirty="0" err="1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인프라</a:t>
            </a:r>
            <a:r>
              <a:rPr lang="en-US" sz="1650" dirty="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1650" dirty="0" err="1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개수를</a:t>
            </a:r>
            <a:r>
              <a:rPr lang="en-US" sz="1650" dirty="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GROUP BY </a:t>
            </a:r>
            <a:r>
              <a:rPr lang="en-US" sz="1650" dirty="0" err="1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하여</a:t>
            </a:r>
            <a:r>
              <a:rPr lang="en-US" sz="1650" dirty="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1650" dirty="0" err="1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집계</a:t>
            </a:r>
            <a:endParaRPr dirty="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pic>
        <p:nvPicPr>
          <p:cNvPr id="157" name="Google Shape;15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9175" y="522535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796238" y="534675"/>
            <a:ext cx="88311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4.2.</a:t>
            </a:r>
            <a:r>
              <a:rPr lang="en-US" sz="3450" b="1" u="none" strike="noStrike" cap="none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3450" b="1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관광지</a:t>
            </a:r>
            <a:r>
              <a:rPr lang="en-US" sz="3450" b="1" u="none" strike="noStrike" cap="none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-인프라</a:t>
            </a:r>
            <a:r>
              <a:rPr lang="en-US" sz="3450" b="1" u="none" strike="noStrike" cap="none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3450" b="1" u="none" strike="noStrike" cap="none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연계성</a:t>
            </a:r>
            <a:r>
              <a:rPr lang="en-US" sz="3450" b="1" u="none" strike="noStrike" cap="none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3450" b="1" u="none" strike="noStrike" cap="none" dirty="0">
                <a:solidFill>
                  <a:srgbClr val="38BDF8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(</a:t>
            </a:r>
            <a:r>
              <a:rPr lang="en-US" sz="3450" b="1" u="none" strike="noStrike" cap="none" dirty="0" err="1">
                <a:solidFill>
                  <a:srgbClr val="38BDF8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JOIN·상관</a:t>
            </a:r>
            <a:r>
              <a:rPr lang="en-US" sz="3450" b="1" u="none" strike="noStrike" cap="none" dirty="0">
                <a:solidFill>
                  <a:srgbClr val="38BDF8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3450" b="1" u="none" strike="noStrike" cap="none" dirty="0" err="1">
                <a:solidFill>
                  <a:srgbClr val="38BDF8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분석</a:t>
            </a:r>
            <a:r>
              <a:rPr lang="en-US" sz="3450" b="1" u="none" strike="noStrike" cap="none" dirty="0">
                <a:solidFill>
                  <a:srgbClr val="38BDF8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)</a:t>
            </a:r>
            <a:endParaRPr b="1" dirty="0">
              <a:latin typeface="NanumBarunGothic" panose="020B0603020101020101" pitchFamily="34" charset="-127"/>
              <a:ea typeface="NanumBarunGothic" panose="020B0603020101020101" pitchFamily="34" charset="-127"/>
              <a:cs typeface="Urbanist"/>
              <a:sym typeface="Urbanist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581025" y="485775"/>
            <a:ext cx="76200" cy="628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NanumBarunGothic" panose="020B0603020101020101" pitchFamily="34" charset="-127"/>
              <a:cs typeface="Calibri"/>
              <a:sym typeface="Calibri"/>
            </a:endParaRPr>
          </a:p>
        </p:txBody>
      </p:sp>
      <p:grpSp>
        <p:nvGrpSpPr>
          <p:cNvPr id="160" name="Google Shape;160;p18"/>
          <p:cNvGrpSpPr/>
          <p:nvPr/>
        </p:nvGrpSpPr>
        <p:grpSpPr>
          <a:xfrm>
            <a:off x="6286500" y="2135385"/>
            <a:ext cx="5324474" cy="4236839"/>
            <a:chOff x="6286500" y="2135385"/>
            <a:chExt cx="5324474" cy="4236839"/>
          </a:xfrm>
        </p:grpSpPr>
        <p:pic>
          <p:nvPicPr>
            <p:cNvPr id="161" name="Google Shape;161;p18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286500" y="2135385"/>
              <a:ext cx="5324474" cy="42368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" name="Google Shape;162;p18"/>
            <p:cNvSpPr txBox="1"/>
            <p:nvPr/>
          </p:nvSpPr>
          <p:spPr>
            <a:xfrm>
              <a:off x="6581775" y="2430660"/>
              <a:ext cx="4970700" cy="3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50" dirty="0" err="1">
                  <a:solidFill>
                    <a:srgbClr val="38BDF8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인근</a:t>
              </a:r>
              <a:r>
                <a:rPr lang="en-US" sz="2050" dirty="0">
                  <a:solidFill>
                    <a:srgbClr val="38BDF8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2050" dirty="0" err="1">
                  <a:solidFill>
                    <a:srgbClr val="38BDF8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관광</a:t>
              </a:r>
              <a:r>
                <a:rPr lang="en-US" sz="2050" dirty="0">
                  <a:solidFill>
                    <a:srgbClr val="38BDF8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2050" dirty="0" err="1">
                  <a:solidFill>
                    <a:srgbClr val="38BDF8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인프라와</a:t>
              </a:r>
              <a:r>
                <a:rPr lang="en-US" sz="2050" dirty="0">
                  <a:solidFill>
                    <a:srgbClr val="38BDF8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2050" dirty="0" err="1">
                  <a:solidFill>
                    <a:srgbClr val="38BDF8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연계횟수</a:t>
              </a:r>
              <a:r>
                <a:rPr lang="en-US" sz="2050" dirty="0">
                  <a:solidFill>
                    <a:srgbClr val="38BDF8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2050" dirty="0" err="1">
                  <a:solidFill>
                    <a:srgbClr val="38BDF8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간의</a:t>
              </a:r>
              <a:r>
                <a:rPr lang="en-US" sz="2050" dirty="0">
                  <a:solidFill>
                    <a:srgbClr val="38BDF8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2050" dirty="0" err="1">
                  <a:solidFill>
                    <a:srgbClr val="38BDF8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관계</a:t>
              </a:r>
              <a:endParaRPr sz="1500" dirty="0"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endParaRPr>
            </a:p>
          </p:txBody>
        </p:sp>
        <p:sp>
          <p:nvSpPr>
            <p:cNvPr id="163" name="Google Shape;163;p18"/>
            <p:cNvSpPr/>
            <p:nvPr/>
          </p:nvSpPr>
          <p:spPr>
            <a:xfrm>
              <a:off x="6581775" y="2878335"/>
              <a:ext cx="4734000" cy="19200"/>
            </a:xfrm>
            <a:prstGeom prst="rect">
              <a:avLst/>
            </a:prstGeom>
            <a:solidFill>
              <a:srgbClr val="33415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u="none" strike="noStrike" cap="none">
                <a:solidFill>
                  <a:schemeClr val="dk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Calibri"/>
                <a:sym typeface="Calibri"/>
              </a:endParaRPr>
            </a:p>
          </p:txBody>
        </p:sp>
        <p:sp>
          <p:nvSpPr>
            <p:cNvPr id="164" name="Google Shape;164;p18"/>
            <p:cNvSpPr txBox="1"/>
            <p:nvPr/>
          </p:nvSpPr>
          <p:spPr>
            <a:xfrm>
              <a:off x="6581625" y="3017820"/>
              <a:ext cx="4448100" cy="7917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50" dirty="0" err="1">
                  <a:solidFill>
                    <a:schemeClr val="lt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관광지</a:t>
              </a:r>
              <a:r>
                <a:rPr lang="en-US" sz="1750" dirty="0">
                  <a:solidFill>
                    <a:schemeClr val="lt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1750" dirty="0" err="1">
                  <a:solidFill>
                    <a:schemeClr val="lt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인근</a:t>
              </a:r>
              <a:r>
                <a:rPr lang="en-US" sz="1750" dirty="0">
                  <a:solidFill>
                    <a:schemeClr val="lt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1750" dirty="0" err="1">
                  <a:solidFill>
                    <a:schemeClr val="lt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인프라와</a:t>
              </a:r>
              <a:r>
                <a:rPr lang="en-US" sz="1750" dirty="0">
                  <a:solidFill>
                    <a:schemeClr val="lt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1750" dirty="0" err="1">
                  <a:solidFill>
                    <a:schemeClr val="lt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관광지의</a:t>
              </a:r>
              <a:r>
                <a:rPr lang="en-US" sz="1750" dirty="0">
                  <a:solidFill>
                    <a:schemeClr val="lt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1750" dirty="0" err="1">
                  <a:solidFill>
                    <a:schemeClr val="lt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인기</a:t>
              </a:r>
              <a:r>
                <a:rPr lang="en-US" sz="1750" dirty="0">
                  <a:solidFill>
                    <a:schemeClr val="lt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1750" dirty="0" err="1">
                  <a:solidFill>
                    <a:schemeClr val="lt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간의</a:t>
              </a:r>
              <a:br>
                <a:rPr lang="en-US" sz="1750" dirty="0">
                  <a:solidFill>
                    <a:schemeClr val="lt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</a:br>
              <a:r>
                <a:rPr lang="en-US" sz="1750" dirty="0" err="1">
                  <a:solidFill>
                    <a:schemeClr val="lt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상관계수는</a:t>
              </a:r>
              <a:r>
                <a:rPr lang="en-US" sz="1750" dirty="0">
                  <a:solidFill>
                    <a:schemeClr val="lt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0.229로 </a:t>
              </a:r>
              <a:r>
                <a:rPr lang="en-US" sz="1750" dirty="0" err="1">
                  <a:solidFill>
                    <a:schemeClr val="lt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약한</a:t>
              </a:r>
              <a:r>
                <a:rPr lang="en-US" sz="1750" dirty="0">
                  <a:solidFill>
                    <a:schemeClr val="lt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1750" dirty="0" err="1">
                  <a:solidFill>
                    <a:schemeClr val="lt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양의</a:t>
              </a:r>
              <a:r>
                <a:rPr lang="en-US" sz="1750" dirty="0">
                  <a:solidFill>
                    <a:schemeClr val="lt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1750" dirty="0" err="1">
                  <a:solidFill>
                    <a:schemeClr val="lt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상관관계</a:t>
              </a:r>
              <a:endParaRPr sz="1500" dirty="0">
                <a:solidFill>
                  <a:schemeClr val="lt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endParaRPr>
            </a:p>
          </p:txBody>
        </p:sp>
        <p:sp>
          <p:nvSpPr>
            <p:cNvPr id="165" name="Google Shape;165;p18"/>
            <p:cNvSpPr txBox="1"/>
            <p:nvPr/>
          </p:nvSpPr>
          <p:spPr>
            <a:xfrm>
              <a:off x="6569195" y="3953880"/>
              <a:ext cx="4734000" cy="1187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50" dirty="0" err="1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인프라가</a:t>
              </a:r>
              <a:r>
                <a:rPr lang="en-US" sz="1750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1750" dirty="0" err="1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부족한</a:t>
              </a:r>
              <a:r>
                <a:rPr lang="en-US" sz="1750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1750" dirty="0" err="1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지방</a:t>
              </a:r>
              <a:r>
                <a:rPr lang="en-US" sz="1750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1750" dirty="0" err="1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관광지는</a:t>
              </a:r>
              <a:r>
                <a:rPr lang="en-US" sz="1750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1750" dirty="0" err="1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인근</a:t>
              </a:r>
              <a:r>
                <a:rPr lang="en-US" sz="1750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1750" dirty="0" err="1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관광지와의</a:t>
              </a:r>
              <a:r>
                <a:rPr lang="en-US" sz="1750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1750" dirty="0" err="1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연계가</a:t>
              </a:r>
              <a:r>
                <a:rPr lang="en-US" sz="1750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1750" dirty="0" err="1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힘들어</a:t>
              </a:r>
              <a:r>
                <a:rPr lang="en-US" sz="1750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1750" dirty="0" err="1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여행의</a:t>
              </a:r>
              <a:r>
                <a:rPr lang="en-US" sz="1750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1750" dirty="0" err="1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목적지</a:t>
              </a:r>
              <a:r>
                <a:rPr lang="en-US" sz="1750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(</a:t>
              </a:r>
              <a:r>
                <a:rPr lang="en-US" sz="1750" dirty="0" err="1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핵심</a:t>
              </a:r>
              <a:r>
                <a:rPr lang="en-US" sz="1750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1750" dirty="0" err="1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허브</a:t>
              </a:r>
              <a:r>
                <a:rPr lang="en-US" sz="1750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1750" dirty="0" err="1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관광지</a:t>
              </a:r>
              <a:r>
                <a:rPr lang="en-US" sz="1750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)</a:t>
              </a:r>
              <a:r>
                <a:rPr lang="en-US" sz="1750" dirty="0" err="1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가</a:t>
              </a:r>
              <a:r>
                <a:rPr lang="en-US" sz="1750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1750" dirty="0" err="1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되기</a:t>
              </a:r>
              <a:r>
                <a:rPr lang="en-US" sz="1750" dirty="0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 </a:t>
              </a:r>
              <a:r>
                <a:rPr lang="en-US" sz="1750" dirty="0" err="1">
                  <a:solidFill>
                    <a:srgbClr val="F8FAFC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Urbanist"/>
                  <a:sym typeface="Urbanist"/>
                </a:rPr>
                <a:t>어려움</a:t>
              </a:r>
              <a:endParaRPr sz="1750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endParaRPr>
            </a:p>
          </p:txBody>
        </p:sp>
      </p:grpSp>
      <p:sp>
        <p:nvSpPr>
          <p:cNvPr id="2" name="Google Shape;165;p18">
            <a:extLst>
              <a:ext uri="{FF2B5EF4-FFF2-40B4-BE49-F238E27FC236}">
                <a16:creationId xmlns:a16="http://schemas.microsoft.com/office/drawing/2014/main" id="{F071015A-7287-020F-82EF-F3D320827F59}"/>
              </a:ext>
            </a:extLst>
          </p:cNvPr>
          <p:cNvSpPr txBox="1"/>
          <p:nvPr/>
        </p:nvSpPr>
        <p:spPr>
          <a:xfrm>
            <a:off x="6581775" y="5184591"/>
            <a:ext cx="4734000" cy="791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50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그러나 인기가 많아도 주변 인프라가 부족한 지역들도 있는 것으로 보임</a:t>
            </a:r>
            <a:endParaRPr sz="1750" dirty="0">
              <a:solidFill>
                <a:srgbClr val="F8FAFC"/>
              </a:solidFill>
              <a:latin typeface="NanumBarunGothic" panose="020B0603020101020101" pitchFamily="34" charset="-127"/>
              <a:ea typeface="NanumBarunGothic" panose="020B0603020101020101" pitchFamily="34" charset="-127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 title="스크린샷 2026-06-09 오전 7.30.47.png"/>
          <p:cNvPicPr preferRelativeResize="0"/>
          <p:nvPr/>
        </p:nvPicPr>
        <p:blipFill rotWithShape="1">
          <a:blip r:embed="rId4">
            <a:alphaModFix/>
          </a:blip>
          <a:srcRect r="14141"/>
          <a:stretch/>
        </p:blipFill>
        <p:spPr>
          <a:xfrm>
            <a:off x="692150" y="2135375"/>
            <a:ext cx="5705475" cy="4236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title="스크린샷 2026-06-09 오전 7.33.27.png"/>
          <p:cNvPicPr preferRelativeResize="0"/>
          <p:nvPr/>
        </p:nvPicPr>
        <p:blipFill rotWithShape="1">
          <a:blip r:embed="rId5">
            <a:alphaModFix/>
          </a:blip>
          <a:srcRect l="8758" r="19753"/>
          <a:stretch/>
        </p:blipFill>
        <p:spPr>
          <a:xfrm>
            <a:off x="5483875" y="2228100"/>
            <a:ext cx="6016123" cy="405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581025" y="1609725"/>
            <a:ext cx="110301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dirty="0" err="1">
                <a:solidFill>
                  <a:schemeClr val="lt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 Medium"/>
                <a:sym typeface="Urbanist Medium"/>
              </a:rPr>
              <a:t>계절</a:t>
            </a:r>
            <a:r>
              <a:rPr lang="en-US" sz="1650" dirty="0">
                <a:solidFill>
                  <a:schemeClr val="lt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 Medium"/>
                <a:sym typeface="Urbanist Medium"/>
              </a:rPr>
              <a:t> </a:t>
            </a:r>
            <a:r>
              <a:rPr lang="en-US" sz="1650" dirty="0" err="1">
                <a:solidFill>
                  <a:schemeClr val="lt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 Medium"/>
                <a:sym typeface="Urbanist Medium"/>
              </a:rPr>
              <a:t>영향</a:t>
            </a:r>
            <a:r>
              <a:rPr lang="en-US" sz="1650" dirty="0">
                <a:solidFill>
                  <a:schemeClr val="lt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 Medium"/>
                <a:sym typeface="Urbanist Medium"/>
              </a:rPr>
              <a:t> </a:t>
            </a:r>
            <a:r>
              <a:rPr lang="en-US" sz="1650" dirty="0" err="1">
                <a:solidFill>
                  <a:schemeClr val="lt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 Medium"/>
                <a:sym typeface="Urbanist Medium"/>
              </a:rPr>
              <a:t>없이</a:t>
            </a:r>
            <a:r>
              <a:rPr lang="en-US" sz="1650" dirty="0">
                <a:solidFill>
                  <a:schemeClr val="lt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 Medium"/>
                <a:sym typeface="Urbanist Medium"/>
              </a:rPr>
              <a:t> </a:t>
            </a:r>
            <a:r>
              <a:rPr lang="en-US" sz="1650" dirty="0" err="1">
                <a:solidFill>
                  <a:schemeClr val="lt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 Medium"/>
                <a:sym typeface="Urbanist Medium"/>
              </a:rPr>
              <a:t>가장</a:t>
            </a:r>
            <a:r>
              <a:rPr lang="en-US" sz="1650" dirty="0">
                <a:solidFill>
                  <a:schemeClr val="lt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 Medium"/>
                <a:sym typeface="Urbanist Medium"/>
              </a:rPr>
              <a:t> </a:t>
            </a:r>
            <a:r>
              <a:rPr lang="en-US" sz="1650" dirty="0" err="1">
                <a:solidFill>
                  <a:schemeClr val="lt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 Medium"/>
                <a:sym typeface="Urbanist Medium"/>
              </a:rPr>
              <a:t>많은</a:t>
            </a:r>
            <a:r>
              <a:rPr lang="en-US" sz="1650" dirty="0">
                <a:solidFill>
                  <a:schemeClr val="lt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 Medium"/>
                <a:sym typeface="Urbanist Medium"/>
              </a:rPr>
              <a:t> </a:t>
            </a:r>
            <a:r>
              <a:rPr lang="en-US" sz="1650" dirty="0" err="1">
                <a:solidFill>
                  <a:schemeClr val="lt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 Medium"/>
                <a:sym typeface="Urbanist Medium"/>
              </a:rPr>
              <a:t>인기가</a:t>
            </a:r>
            <a:r>
              <a:rPr lang="en-US" sz="1650" dirty="0">
                <a:solidFill>
                  <a:schemeClr val="lt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 Medium"/>
                <a:sym typeface="Urbanist Medium"/>
              </a:rPr>
              <a:t> </a:t>
            </a:r>
            <a:r>
              <a:rPr lang="en-US" sz="1650" dirty="0" err="1">
                <a:solidFill>
                  <a:schemeClr val="lt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 Medium"/>
                <a:sym typeface="Urbanist Medium"/>
              </a:rPr>
              <a:t>있던</a:t>
            </a:r>
            <a:r>
              <a:rPr lang="en-US" sz="1650" dirty="0">
                <a:solidFill>
                  <a:schemeClr val="lt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 Medium"/>
                <a:sym typeface="Urbanist Medium"/>
              </a:rPr>
              <a:t> </a:t>
            </a:r>
            <a:r>
              <a:rPr lang="en-US" sz="1650" dirty="0" err="1">
                <a:solidFill>
                  <a:schemeClr val="lt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 Medium"/>
                <a:sym typeface="Urbanist Medium"/>
              </a:rPr>
              <a:t>제주도를</a:t>
            </a:r>
            <a:r>
              <a:rPr lang="en-US" sz="1650" dirty="0">
                <a:solidFill>
                  <a:schemeClr val="lt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 Medium"/>
                <a:sym typeface="Urbanist Medium"/>
              </a:rPr>
              <a:t> </a:t>
            </a:r>
            <a:r>
              <a:rPr lang="en-US" sz="1650" dirty="0" err="1">
                <a:solidFill>
                  <a:schemeClr val="lt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 Medium"/>
                <a:sym typeface="Urbanist Medium"/>
              </a:rPr>
              <a:t>중심으로</a:t>
            </a:r>
            <a:r>
              <a:rPr lang="en-US" sz="1650" dirty="0">
                <a:solidFill>
                  <a:schemeClr val="lt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 Medium"/>
                <a:sym typeface="Urbanist Medium"/>
              </a:rPr>
              <a:t> </a:t>
            </a:r>
            <a:r>
              <a:rPr lang="en-US" sz="1650" dirty="0" err="1">
                <a:solidFill>
                  <a:schemeClr val="lt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 Medium"/>
                <a:sym typeface="Urbanist Medium"/>
              </a:rPr>
              <a:t>핵심</a:t>
            </a:r>
            <a:r>
              <a:rPr lang="en-US" sz="1650" dirty="0">
                <a:solidFill>
                  <a:schemeClr val="lt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 Medium"/>
                <a:sym typeface="Urbanist Medium"/>
              </a:rPr>
              <a:t> </a:t>
            </a:r>
            <a:r>
              <a:rPr lang="en-US" sz="1650" dirty="0" err="1">
                <a:solidFill>
                  <a:schemeClr val="lt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 Medium"/>
                <a:sym typeface="Urbanist Medium"/>
              </a:rPr>
              <a:t>관광지끼리</a:t>
            </a:r>
            <a:r>
              <a:rPr lang="en-US" sz="1650" dirty="0">
                <a:solidFill>
                  <a:schemeClr val="lt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 Medium"/>
                <a:sym typeface="Urbanist Medium"/>
              </a:rPr>
              <a:t> </a:t>
            </a:r>
            <a:r>
              <a:rPr lang="en-US" sz="1650" dirty="0" err="1">
                <a:solidFill>
                  <a:schemeClr val="lt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 Medium"/>
                <a:sym typeface="Urbanist Medium"/>
              </a:rPr>
              <a:t>Graph를</a:t>
            </a:r>
            <a:r>
              <a:rPr lang="en-US" sz="1650" dirty="0">
                <a:solidFill>
                  <a:schemeClr val="lt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 Medium"/>
                <a:sym typeface="Urbanist Medium"/>
              </a:rPr>
              <a:t> </a:t>
            </a:r>
            <a:r>
              <a:rPr lang="en-US" sz="1650" dirty="0" err="1">
                <a:solidFill>
                  <a:schemeClr val="lt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 Medium"/>
                <a:sym typeface="Urbanist Medium"/>
              </a:rPr>
              <a:t>이용해</a:t>
            </a:r>
            <a:r>
              <a:rPr lang="en-US" sz="1650" dirty="0">
                <a:solidFill>
                  <a:schemeClr val="lt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 Medium"/>
                <a:sym typeface="Urbanist Medium"/>
              </a:rPr>
              <a:t> </a:t>
            </a:r>
            <a:r>
              <a:rPr lang="en-US" sz="1650" dirty="0" err="1">
                <a:solidFill>
                  <a:schemeClr val="lt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 Medium"/>
                <a:sym typeface="Urbanist Medium"/>
              </a:rPr>
              <a:t>연계</a:t>
            </a:r>
            <a:r>
              <a:rPr lang="en-US" sz="1650" dirty="0">
                <a:solidFill>
                  <a:schemeClr val="lt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 Medium"/>
                <a:sym typeface="Urbanist Medium"/>
              </a:rPr>
              <a:t> </a:t>
            </a:r>
            <a:r>
              <a:rPr lang="en-US" sz="1650" dirty="0" err="1">
                <a:solidFill>
                  <a:schemeClr val="lt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 Medium"/>
                <a:sym typeface="Urbanist Medium"/>
              </a:rPr>
              <a:t>동선</a:t>
            </a:r>
            <a:r>
              <a:rPr lang="en-US" sz="1650" dirty="0">
                <a:solidFill>
                  <a:schemeClr val="lt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 Medium"/>
                <a:sym typeface="Urbanist Medium"/>
              </a:rPr>
              <a:t> </a:t>
            </a:r>
            <a:r>
              <a:rPr lang="en-US" sz="1650" dirty="0" err="1">
                <a:solidFill>
                  <a:schemeClr val="lt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 Medium"/>
                <a:sym typeface="Urbanist Medium"/>
              </a:rPr>
              <a:t>시각화</a:t>
            </a:r>
            <a:endParaRPr dirty="0">
              <a:solidFill>
                <a:schemeClr val="lt1"/>
              </a:solidFill>
              <a:latin typeface="NanumBarunGothic" panose="020B0603020101020101" pitchFamily="34" charset="-127"/>
              <a:ea typeface="NanumBarunGothic" panose="020B0603020101020101" pitchFamily="34" charset="-127"/>
              <a:cs typeface="Urbanist Medium"/>
              <a:sym typeface="Urbanist Medium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771375" y="534675"/>
            <a:ext cx="108396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4.3.</a:t>
            </a:r>
            <a:r>
              <a:rPr lang="en-US" sz="3450" b="1" u="none" strike="noStrike" cap="none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3450" b="1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인기</a:t>
            </a:r>
            <a:r>
              <a:rPr lang="en-US" sz="3450" b="1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3450" b="1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관광지에서</a:t>
            </a:r>
            <a:r>
              <a:rPr lang="en-US" sz="3450" b="1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3450" b="1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연계할</a:t>
            </a:r>
            <a:r>
              <a:rPr lang="en-US" sz="3450" b="1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3450" b="1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수</a:t>
            </a:r>
            <a:r>
              <a:rPr lang="en-US" sz="3450" b="1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3450" b="1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있는</a:t>
            </a:r>
            <a:r>
              <a:rPr lang="en-US" sz="3450" b="1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3450" b="1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관광</a:t>
            </a:r>
            <a:r>
              <a:rPr lang="en-US" sz="3450" b="1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3450" b="1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동선</a:t>
            </a:r>
            <a:r>
              <a:rPr lang="en-US" sz="3450" b="1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3450" b="1" dirty="0">
                <a:solidFill>
                  <a:srgbClr val="38BDF8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(MST)</a:t>
            </a:r>
            <a:endParaRPr b="1" dirty="0">
              <a:latin typeface="NanumBarunGothic" panose="020B0603020101020101" pitchFamily="34" charset="-127"/>
              <a:ea typeface="NanumBarunGothic" panose="020B0603020101020101" pitchFamily="34" charset="-127"/>
              <a:cs typeface="Urbanist"/>
              <a:sym typeface="Urbanist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581025" y="485775"/>
            <a:ext cx="76200" cy="628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305276" y="581025"/>
            <a:ext cx="115815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u="none" strike="noStrike" cap="none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0</a:t>
            </a:r>
            <a:r>
              <a:rPr lang="en-US" sz="4500" b="1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5</a:t>
            </a:r>
            <a:r>
              <a:rPr lang="en-US" sz="4500" b="1" u="none" strike="noStrike" cap="none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. </a:t>
            </a:r>
            <a:r>
              <a:rPr lang="en-US" sz="4500" b="1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데이터</a:t>
            </a:r>
            <a:r>
              <a:rPr lang="en-US" sz="4500" b="1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4500" b="1" dirty="0" err="1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출처</a:t>
            </a:r>
            <a:r>
              <a:rPr lang="en-US" sz="4500" b="1" dirty="0">
                <a:solidFill>
                  <a:srgbClr val="F8FAFC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endParaRPr b="1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5619750" y="1638300"/>
            <a:ext cx="9525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1268400" y="2709950"/>
            <a:ext cx="9938700" cy="2289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dirty="0" err="1">
                <a:solidFill>
                  <a:schemeClr val="lt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공공데이터포털</a:t>
            </a:r>
            <a:r>
              <a:rPr lang="en-US" sz="3100" dirty="0">
                <a:solidFill>
                  <a:schemeClr val="lt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 </a:t>
            </a:r>
            <a:r>
              <a:rPr lang="en-US" sz="3100" dirty="0" err="1">
                <a:solidFill>
                  <a:schemeClr val="lt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  <a:t>오픈API</a:t>
            </a:r>
            <a:br>
              <a:rPr lang="en-US" sz="3100" dirty="0">
                <a:solidFill>
                  <a:schemeClr val="lt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</a:rPr>
            </a:br>
            <a:r>
              <a:rPr lang="en-US" sz="3100" u="sng" dirty="0">
                <a:solidFill>
                  <a:schemeClr val="hlin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  <a:hlinkClick r:id="rId4"/>
              </a:rPr>
              <a:t>(한국관광공사_국문 관광정보 서비스_GW)</a:t>
            </a:r>
            <a:endParaRPr sz="3100" dirty="0">
              <a:solidFill>
                <a:srgbClr val="F8FAFC"/>
              </a:solidFill>
              <a:latin typeface="NanumBarunGothic" panose="020B0603020101020101" pitchFamily="34" charset="-127"/>
              <a:ea typeface="NanumBarunGothic" panose="020B0603020101020101" pitchFamily="34" charset="-127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u="sng" dirty="0">
                <a:solidFill>
                  <a:schemeClr val="hlin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  <a:hlinkClick r:id="rId5"/>
              </a:rPr>
              <a:t>(</a:t>
            </a:r>
            <a:r>
              <a:rPr lang="en-US" sz="3100" u="sng" dirty="0">
                <a:solidFill>
                  <a:schemeClr val="hlin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Urbanist"/>
                <a:sym typeface="Urbanist"/>
                <a:hlinkClick r:id="rId5"/>
              </a:rPr>
              <a:t>한국관광공사_관광지별 연관 관광지 정보)</a:t>
            </a:r>
            <a:endParaRPr sz="3100" dirty="0">
              <a:solidFill>
                <a:srgbClr val="F8FAFC"/>
              </a:solidFill>
              <a:latin typeface="NanumBarunGothic" panose="020B0603020101020101" pitchFamily="34" charset="-127"/>
              <a:ea typeface="NanumBarunGothic" panose="020B0603020101020101" pitchFamily="34" charset="-127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323</Words>
  <Application>Microsoft Macintosh PowerPoint</Application>
  <PresentationFormat>와이드스크린</PresentationFormat>
  <Paragraphs>41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Urbanist Medium</vt:lpstr>
      <vt:lpstr>Arial</vt:lpstr>
      <vt:lpstr>NanumBarunGothic</vt:lpstr>
      <vt:lpstr>Urbanist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홍석진</cp:lastModifiedBy>
  <cp:revision>1</cp:revision>
  <dcterms:modified xsi:type="dcterms:W3CDTF">2026-06-09T00:32:52Z</dcterms:modified>
</cp:coreProperties>
</file>